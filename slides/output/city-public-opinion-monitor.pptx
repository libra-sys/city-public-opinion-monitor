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城市舆情智能监测分析系统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Public Opinion Monitor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2743200" cy="0"/>
          </a:xfrm>
          <a:prstGeom prst="line">
            <a:avLst/>
          </a:prstGeom>
          <a:noFill/>
          <a:ln w="38100">
            <a:solidFill>
              <a:srgbClr val="EF23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383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全流程舆情采集 · 情感分析 · 风险预警 · 趋势预测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SkillsBench 评估 12/12 精品层  |  v1.0.0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 CONTENTS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2618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痛点与背景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508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城市管理舆情监测的核心挑战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18562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103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六大功能模块全覆盖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46888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4505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2697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六步闭环从采集到报告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063240"/>
            <a:ext cx="411480" cy="41148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044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32918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五级量化评估体系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36393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技术亮点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88720" y="3886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可审计 · 可扩展 · 可配置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251960"/>
            <a:ext cx="411480" cy="41148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4233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应用场景与评估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88720" y="44805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精品层认证 12/12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0" y="1097280"/>
            <a:ext cx="3474720" cy="3657600"/>
          </a:xfrm>
          <a:prstGeom prst="rect">
            <a:avLst>
              <a:gd name="adj" fmla="val 2632"/>
            </a:avLst>
          </a:prstGeom>
          <a:solidFill>
            <a:srgbClr val="EDF2F4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137160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</a:t>
            </a:r>
            <a:endParaRPr lang="en-US" sz="4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4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</a:t>
            </a:r>
            <a:endParaRPr lang="en-US" sz="4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4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痛点与背景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EDF2F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630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数据分散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新闻、社交、论坛、政府公告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多源数据难以统一采集分析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128016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EDF2F4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4630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⏱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651760" y="2286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响应滞后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51760" y="28346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传统人工监测效率低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突发事件发现不及时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EDF2F4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4630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800600" y="2286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研判主观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00600" y="28346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风险评估依赖个人经验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缺乏量化标准体系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12280" y="128016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EDF2F4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14630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📈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949440" y="2286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预测缺失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49440" y="28346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只能事后分析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无法提前预判舆情走势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DF2F4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41732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17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3898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多源数据采集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新闻/社交/论坛/政府公告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关键词+地域+时间筛选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141732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417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13898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智能情感分析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正面/中性/负面/敏感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四维标注可审计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2801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DF2F4"/>
          </a:solidFill>
          <a:ln/>
        </p:spPr>
      </p:sp>
      <p:sp>
        <p:nvSpPr>
          <p:cNvPr id="17" name="Shape 15"/>
          <p:cNvSpPr/>
          <p:nvPr/>
        </p:nvSpPr>
        <p:spPr>
          <a:xfrm>
            <a:off x="6172200" y="141732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417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13898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主题热点聚类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7220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TF-IDF + TextRank + LDA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议题分布与热度时间线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1089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DF2F4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324612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246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2186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五级风险预警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37033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五维度加权量化评分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1-5级风险等级体系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0" y="31089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DF2F4"/>
          </a:solidFill>
          <a:ln/>
        </p:spPr>
      </p:sp>
      <p:sp>
        <p:nvSpPr>
          <p:cNvPr id="27" name="Shape 25"/>
          <p:cNvSpPr/>
          <p:nvPr/>
        </p:nvSpPr>
        <p:spPr>
          <a:xfrm>
            <a:off x="3337560" y="324612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3337560" y="3246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31920" y="32186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趋势预测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337560" y="37033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SIR传播模型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情感曲线演化分析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35040" y="31089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DF2F4"/>
          </a:solidFill>
          <a:ln/>
        </p:spPr>
      </p:sp>
      <p:sp>
        <p:nvSpPr>
          <p:cNvPr id="32" name="Shape 30"/>
          <p:cNvSpPr/>
          <p:nvPr/>
        </p:nvSpPr>
        <p:spPr>
          <a:xfrm>
            <a:off x="6172200" y="324612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3246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66560" y="32186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报告自动生成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172200" y="37033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日报/周报/专报/月报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多类型结构化输出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六步工作流程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822960" cy="8229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371600" y="2423160"/>
            <a:ext cx="502920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017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338328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多源渠道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自动化抓取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65960" y="2011680"/>
            <a:ext cx="822960" cy="8229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196596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834640" y="2423160"/>
            <a:ext cx="502920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3017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情感分析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338328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四维情感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可审计标注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29000" y="2011680"/>
            <a:ext cx="822960" cy="8229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297680" y="2423160"/>
            <a:ext cx="502920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3017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主题聚类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338328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热点提取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议题分布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2011680"/>
            <a:ext cx="822960" cy="8229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760720" y="2423160"/>
            <a:ext cx="502920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017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风险识别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63440" y="338328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五维度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量化评分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55080" y="2011680"/>
            <a:ext cx="822960" cy="8229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7223760" y="2423160"/>
            <a:ext cx="502920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3017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趋势预测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26480" y="338328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SIR模型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走势预判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818120" y="2011680"/>
            <a:ext cx="822960" cy="8229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2" name="Text 30"/>
          <p:cNvSpPr/>
          <p:nvPr/>
        </p:nvSpPr>
        <p:spPr>
          <a:xfrm>
            <a:off x="781812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589520" y="3017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报告生成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589520" y="338328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多类型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结构化输出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每一步均有明确的输入/输出定义、约束规则和错误处理机制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五级风险预警体系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188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9456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0" y="11887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响应建议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645920"/>
            <a:ext cx="8412480" cy="5486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737360"/>
            <a:ext cx="548640" cy="365760"/>
          </a:xfrm>
          <a:prstGeom prst="roundRect">
            <a:avLst>
              <a:gd name="adj" fmla="val 12500"/>
            </a:avLst>
          </a:pr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1645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极低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94560" y="16459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少量讨论，无负面情绪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1645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常规监测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194560"/>
            <a:ext cx="84124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286000"/>
            <a:ext cx="548640" cy="365760"/>
          </a:xfrm>
          <a:prstGeom prst="roundRect">
            <a:avLst>
              <a:gd name="adj" fmla="val 12500"/>
            </a:avLst>
          </a:prstGeom>
          <a:solidFill>
            <a:srgbClr val="3498D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286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21945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94560" y="2194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局部讨论，负面&lt;20%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0" y="2194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关注跟踪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2743200"/>
            <a:ext cx="8412480" cy="5486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2834640"/>
            <a:ext cx="548640" cy="365760"/>
          </a:xfrm>
          <a:prstGeom prst="roundRect">
            <a:avLst>
              <a:gd name="adj" fmla="val 12500"/>
            </a:avLst>
          </a:prstGeom>
          <a:solidFill>
            <a:srgbClr val="F39C1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834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3级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2743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94560" y="2743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较多讨论，负面20-50%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0" y="2743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分析研判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3291840"/>
            <a:ext cx="84124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3383280"/>
            <a:ext cx="548640" cy="365760"/>
          </a:xfrm>
          <a:prstGeom prst="roundRect">
            <a:avLst>
              <a:gd name="adj" fmla="val 12500"/>
            </a:avLst>
          </a:prstGeom>
          <a:solidFill>
            <a:srgbClr val="E74C3C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383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4级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80160" y="3291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194560" y="3291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广泛传播，负面&gt;50%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69280" y="3291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启动预案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5760" y="3840480"/>
            <a:ext cx="8412480" cy="5486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3931920"/>
            <a:ext cx="548640" cy="365760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931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5级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80160" y="3840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194560" y="3840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重大舆情，跨平台传播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669280" y="3840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紧急响应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评分权重：传播热度 25%  |  负面占比 30%  |  加速度 20%  |  意见领袖 15%  |  跨平台 10%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技术亮点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DF2F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全流程可审计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每条情感标签附带判定依据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支持人工抽检复验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DF2F4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风险评估量化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5级风险体系基于多维度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加权评分，非主观判断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DF2F4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7220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引擎可插拔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7220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词典匹配/ML/LLM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三种模式自由切换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DF2F4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200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🔌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02920" y="3749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采集器可扩展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4114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统一接口 search/parse/normalize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新增数据源即插即用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31089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DF2F4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3200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337560" y="3749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告警规则可配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37560" y="4114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config.json 驱动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自定义阈值和告警渠道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31089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DF2F4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3200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172200" y="3749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零外部依赖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72200" y="4114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仅使用 Python 标准库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部署简单，运行稳定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🏙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城市舆情日常监测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4813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定期采集分析城市相关舆论，掌握民意动态，为城市管理提供数据支撑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84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1938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突发事件舆论追踪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223113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实时监控突发事件的舆情发展，及时预警风险，辅助应急响应决策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34056"/>
            <a:ext cx="502920" cy="50292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340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26883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政策发布民意反馈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98094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收集分析政策发布后的公众反应，量化评估政策效果和社会接受度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483864"/>
            <a:ext cx="502920" cy="50292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4838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🏟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43000" y="343814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重大活动舆情保障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37307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为重大活动提供舆情监控和应急响应支持，确保活动顺利进行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33672"/>
            <a:ext cx="502920" cy="50292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233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43000" y="41879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舆情风险研判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提供量化风险评估和趋势预测，为决策层提供科学依据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SkillsBench 评估结果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2560320" cy="25603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12/12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精品层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0" y="1371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元数据完整性 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1874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任务边界清晰度 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2377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工作流结构化 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2880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工具/脚本完整性 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3383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约束规则明确性 ✅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3886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示例质量 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1371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模板标准化 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1874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错误处理 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2377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可扩展性 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2880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安全性 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3383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测试覆盖 ✅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3886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文档质量 ✅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城市舆情智能监测分析系统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286000" cy="0"/>
          </a:xfrm>
          <a:prstGeom prst="line">
            <a:avLst/>
          </a:prstGeom>
          <a:noFill/>
          <a:ln w="38100">
            <a:solidFill>
              <a:srgbClr val="EF2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六步闭环：采集 → 分析 → 聚类 → 预警 → 预测 → 报告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五级风险量化评估体系，告别主观判断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情感分析引擎可插拔，适配不同场景需求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SkillsBench 12/12 精品层认证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github.com/libra-sys/city-public-opinion-monitor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2026-05-30T15:42:30Z</dcterms:created>
  <dcterms:modified xsi:type="dcterms:W3CDTF">2026-05-30T15:42:30Z</dcterms:modified>
</cp:coreProperties>
</file>